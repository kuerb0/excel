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cel avanzado" id="{e446e0e6-a4c3-292b-a8ef-625a3ff34478}">
          <p14:sldIdLst>
            <p14:sldId id="256"/>
          </p14:sldIdLst>
        </p14:section>
        <p14:section name="01 · Tablas estructuradas" id="{7f1a9a4f-3496-d523-8177-ac3dd3940a48}">
          <p14:sldIdLst>
            <p14:sldId id="257"/>
            <p14:sldId id="258"/>
          </p14:sldIdLst>
        </p14:section>
        <p14:section name="02 · Buscar y referenciar" id="{56c30966-c654-984c-6aec-7dc022a5449a}">
          <p14:sldIdLst>
            <p14:sldId id="259"/>
            <p14:sldId id="260"/>
            <p14:sldId id="261"/>
          </p14:sldIdLst>
        </p14:section>
        <p14:section name="03 · Matrices dinámicas" id="{7a3da615-89c2-6d56-4b63-bf87f18fc3e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04 · Operar con condiciones" id="{38e5630e-fd48-0c4c-243b-41a78c649ccf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empezar: abrir Excel.xlsx y comprobar que todos tienen Microsoft 365. TOMAR, EXCLUIR, APILARV o ELEGIRCOLS no existen en Excel 2019/2021 y darían #¿NOMBRE?.
Cada bloque corresponde a una hoja del archivo, en el mismo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PROMEDIO: https://support.microsoft.com/es-es/excel/functions/average-function
Hoja «Data». Demo: añadir una fila 56 (letra A, número 1) y comprobar que la columna D se rellena sola y que la media cambia.
La columna «Acum» está escrita a mano (1…54): es un ID de fila, no un acumulado. Conviene renombrarla o cambiarla por una fórmula.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SUMA: https://support.microsoft.com/es-es/excel/functions/sum-function
CONTAR: https://support.microsoft.com/es-es/excel/functions/count-function
PROMEDIO: https://support.microsoft.com/es-es/excel/functions/average-function
VAR.P: https://support.microsoft.com/es-es/excel/functions/var-p-function
FORMULATEXTO: https://support.microsoft.com/es-es/excel/functions/formulatext-function
Hoja «Tablas», D2:G2 y D3:D6.
Pregunta para la clase: diferencia entre VAR.P y VAR.S (población y muestra; VAR.S daría 3,5).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BUSCARX: https://support.microsoft.com/es-es/excel/functions/xlookup-function
TOMAR: https://support.microsoft.com/es-es/excel/functions/take-function
UNICOS: https://support.microsoft.com/es-es/excel/functions/unique-function
Hoja «Buscar», H1:I5. El operador # (H1#) toma todo el resultado de H1: si H1 pasa a devolver 7 letras, BUSCARX devuelve 7 números sin cambiar la fórmula.
Demo: añadir el 4.º argumento ("No existe") y buscar una letra que no esté.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INDICE: https://support.microsoft.com/es-es/excel/functions/index-function
FILAS: https://support.microsoft.com/es-es/excel/functions/rows-function
COLUMNAS: https://support.microsoft.com/es-es/excel/functions/columns-function
COINCIDIR: https://support.microsoft.com/es-es/excel/functions/match-function
Hoja «Buscar», I12:J13 y I16. FILAS y COLUMNAS dan el máximo que admite INDICE (54 × 4).
INDICE + COINCIDIR es la forma anterior a BUSCARX y aparece en muchos archivos antiguos.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INDIRECTO: https://support.microsoft.com/es-es/excel/functions/indirect-function
DESREF: https://support.microsoft.com/es-es/excel/functions/offset-function
En «Buscar», A22 (INDIRECTO) y A23 (DESREF) solo tienen el título; estas fórmulas sirven para completarlos.
INDIRECTO: 756 = (1+…+27) × 2. DESREF desde Data!B1 bajando 5 filas → B6 =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SECUENCIA: https://support.microsoft.com/es-es/excel/functions/sequence-function
Demo: escribir =SECUENCIA(5) en una celda vacía, escribir algo en la tercera celda de debajo para que salga #¡DESBORDAMIENTO! y borrarlo.
En «Manip Tablas», el formato condicional COUNTA(celda)=1 colorea las celdas que ocupan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FILTRAR: https://support.microsoft.com/es-es/excel/functions/filter-function
Hoja «Manip Tablas», H2 e I2. Cambiar H2 a 20 y ver cómo se reduce el resultado.
En el archivo falta el tercer argumento; sin él, si nada cumple aparece #¡CALC! (probar con H2 = 30).
Pendiente: el texto de C1 está copiado del de BUSCARX.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ORDENARPOR: https://support.microsoft.com/es-es/excel/functions/sortby-function
ORDENAR: https://support.microsoft.com/es-es/excel/functions/sort-function
Hoja «Manip Tablas», U2. Pregunta: ¿qué pasa si el -1 se cambia por 1? (los FALSO pasan arriba).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UNICOS: https://support.microsoft.com/es-es/excel/functions/unique-function
Hoja «Manip Tablas», AG1 (UNICOS de una columna lógica) y AI2.
Pendiente: AL1 se llama «Porcentaje de Duplicados», pero =COUNT(AJ2:AJ28)/ROWS(Data[]) calcula el % de únicos. Aquí coinciden (50 %) por casualidad.
Demo: con el tercer argumento en VERDADERO no devuelve nada, porque todas las letras están repetidas.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SECUENCIA: https://support.microsoft.com/es-es/excel/functions/sequence-function
Hoja «Manip Tablas», parámetros en AU2:AU8 y resultado en AW2. Cambiar los parámetros en directo (paso 5, inicio 100…).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TOMAR: https://support.microsoft.com/es-es/excel/functions/take-function
EXCLUIR: https://support.microsoft.com/es-es/excel/functions/drop-function
Hoja «Manip Tablas», parámetros en BF2:BF4, TOMAR en BH1:BH2 y EXCLUIR en BL1:BL2. La fila 1 aplica lo mismo a Data[#Encabezados] para que cuadren los títulos.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APILARV: https://support.microsoft.com/es-es/excel/functions/vstack-function
APILARH: https://support.microsoft.com/es-es/excel/functions/hstack-function
ENCOL: https://support.microsoft.com/es-es/excel/functions/tocol-function
Hoja «Manip Tablas», BW2, BY2 y CC2.
Pendiente: en BP3, BP5 y BP7 los rótulos ENCOL, ELEGIRCOLS y ELEGIRFILS están bajo el título APILAR; conviene reagruparlos.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ELEGIRCOLS: https://support.microsoft.com/es-es/excel/functions/choosecols-function
ELEGIRFILAS: https://support.microsoft.com/es-es/excel/functions/chooserows-function
ORDENARPOR: https://support.microsoft.com/es-es/excel/functions/sortby-function
TOMAR: https://support.microsoft.com/es-es/excel/functions/take-function
Hoja «Manip Tablas», CE2 y CG2 (en el archivo: ELEGIRCOLS(Data[];1) y ELEGIRFILAS(Data[];1)).
La fórmula anidada se lee de dentro hacia fuera. La tabla de la derecha solo muestra Letras y Número; la fórmula devuelve las 4 columnas.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SUMAR.SI.CONJUNTO: https://support.microsoft.com/es-es/excel/functions/sumifs-function
CONTAR.SI.CONJUNTO: https://support.microsoft.com/es-es/excel/functions/countifs-function
PROMEDIO.SI.CONJUNTO: https://support.microsoft.com/es-es/excel/functions/averageifs-function
MAX.SI.CONJUNTO: https://support.microsoft.com/es-es/excel/functions/maxifs-function
MIN.SI.CONJUNTO: https://support.microsoft.com/es-es/excel/functions/minifs-function
Hoja «Operar Tablas». MIN.SI.CONJUNTO aparece en el título de A7 («MAX - MIN») pero no tiene ejemplo; se puede añadir en directo.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oficial:
SUMAR.SI.CONJUNTO: https://support.microsoft.com/es-es/excel/functions/sumifs-function
CONTAR.SI.CONJUNTO: https://support.microsoft.com/es-es/excel/functions/countifs-function
PROMEDIO.SI.CONJUNTO: https://support.microsoft.com/es-es/excel/functions/averageifs-function
MAX.SI.CONJUNTO: https://support.microsoft.com/es-es/excel/functions/maxifs-function
Hoja «Operar Tablas». Los valores 6, 7, 8 y 9 aparecen dos veces cada uno: suma 60, cuenta 8, media 7,5 y máximo 9.
Correcciones: I12 → H12:H14; L12 → K12:K14; I16 → H16 y H17; L16 → K16 y K17.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 de la documentación oficial de Microsoft para todas las funciones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E3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E3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E7D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E7D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average-func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um-function" TargetMode="External"/><Relationship Id="rId2" Type="http://schemas.openxmlformats.org/officeDocument/2006/relationships/hyperlink" Target="https://support.microsoft.com/es-es/excel/functions/count-function" TargetMode="External"/><Relationship Id="rId3" Type="http://schemas.openxmlformats.org/officeDocument/2006/relationships/hyperlink" Target="https://support.microsoft.com/es-es/excel/functions/average-function" TargetMode="External"/><Relationship Id="rId4" Type="http://schemas.openxmlformats.org/officeDocument/2006/relationships/hyperlink" Target="https://support.microsoft.com/es-es/excel/functions/var-p-function" TargetMode="External"/><Relationship Id="rId5" Type="http://schemas.openxmlformats.org/officeDocument/2006/relationships/hyperlink" Target="https://support.microsoft.com/es-es/excel/functions/formulatext-function" TargetMode="External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xlookup-function" TargetMode="External"/><Relationship Id="rId2" Type="http://schemas.openxmlformats.org/officeDocument/2006/relationships/hyperlink" Target="https://support.microsoft.com/es-es/excel/functions/take-function" TargetMode="External"/><Relationship Id="rId3" Type="http://schemas.openxmlformats.org/officeDocument/2006/relationships/hyperlink" Target="https://support.microsoft.com/es-es/excel/functions/unique-function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index-function" TargetMode="External"/><Relationship Id="rId2" Type="http://schemas.openxmlformats.org/officeDocument/2006/relationships/hyperlink" Target="https://support.microsoft.com/es-es/excel/functions/rows-function" TargetMode="External"/><Relationship Id="rId3" Type="http://schemas.openxmlformats.org/officeDocument/2006/relationships/hyperlink" Target="https://support.microsoft.com/es-es/excel/functions/columns-function" TargetMode="External"/><Relationship Id="rId4" Type="http://schemas.openxmlformats.org/officeDocument/2006/relationships/hyperlink" Target="https://support.microsoft.com/es-es/excel/functions/match-function" TargetMode="Externa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indirect-function" TargetMode="External"/><Relationship Id="rId2" Type="http://schemas.openxmlformats.org/officeDocument/2006/relationships/hyperlink" Target="https://support.microsoft.com/es-es/excel/functions/offset-functio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equence-func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filter-func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ortby-function" TargetMode="External"/><Relationship Id="rId2" Type="http://schemas.openxmlformats.org/officeDocument/2006/relationships/hyperlink" Target="https://support.microsoft.com/es-es/excel/functions/sort-functio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unique-func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equence-function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take-function" TargetMode="External"/><Relationship Id="rId2" Type="http://schemas.openxmlformats.org/officeDocument/2006/relationships/hyperlink" Target="https://support.microsoft.com/es-es/excel/functions/drop-function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vstack-function" TargetMode="External"/><Relationship Id="rId2" Type="http://schemas.openxmlformats.org/officeDocument/2006/relationships/hyperlink" Target="https://support.microsoft.com/es-es/excel/functions/hstack-function" TargetMode="External"/><Relationship Id="rId3" Type="http://schemas.openxmlformats.org/officeDocument/2006/relationships/hyperlink" Target="https://support.microsoft.com/es-es/excel/functions/tocol-function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choosecols-function" TargetMode="External"/><Relationship Id="rId2" Type="http://schemas.openxmlformats.org/officeDocument/2006/relationships/hyperlink" Target="https://support.microsoft.com/es-es/excel/functions/chooserows-function" TargetMode="External"/><Relationship Id="rId3" Type="http://schemas.openxmlformats.org/officeDocument/2006/relationships/hyperlink" Target="https://support.microsoft.com/es-es/excel/functions/sortby-function" TargetMode="External"/><Relationship Id="rId4" Type="http://schemas.openxmlformats.org/officeDocument/2006/relationships/hyperlink" Target="https://support.microsoft.com/es-es/excel/functions/take-function" TargetMode="Externa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umifs-function" TargetMode="External"/><Relationship Id="rId2" Type="http://schemas.openxmlformats.org/officeDocument/2006/relationships/hyperlink" Target="https://support.microsoft.com/es-es/excel/functions/countifs-function" TargetMode="External"/><Relationship Id="rId3" Type="http://schemas.openxmlformats.org/officeDocument/2006/relationships/hyperlink" Target="https://support.microsoft.com/es-es/excel/functions/averageifs-function" TargetMode="External"/><Relationship Id="rId4" Type="http://schemas.openxmlformats.org/officeDocument/2006/relationships/hyperlink" Target="https://support.microsoft.com/es-es/excel/functions/maxifs-function" TargetMode="External"/><Relationship Id="rId5" Type="http://schemas.openxmlformats.org/officeDocument/2006/relationships/hyperlink" Target="https://support.microsoft.com/es-es/excel/functions/minifs-function" TargetMode="External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umifs-function" TargetMode="External"/><Relationship Id="rId2" Type="http://schemas.openxmlformats.org/officeDocument/2006/relationships/hyperlink" Target="https://support.microsoft.com/es-es/excel/functions/countifs-function" TargetMode="External"/><Relationship Id="rId3" Type="http://schemas.openxmlformats.org/officeDocument/2006/relationships/hyperlink" Target="https://support.microsoft.com/es-es/excel/functions/averageifs-function" TargetMode="External"/><Relationship Id="rId4" Type="http://schemas.openxmlformats.org/officeDocument/2006/relationships/hyperlink" Target="https://support.microsoft.com/es-es/excel/functions/maxifs-function" TargetMode="Externa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microsoft.com/es-es/excel/functions/sum-function" TargetMode="External"/><Relationship Id="rId2" Type="http://schemas.openxmlformats.org/officeDocument/2006/relationships/hyperlink" Target="https://support.microsoft.com/es-es/excel/functions/count-function" TargetMode="External"/><Relationship Id="rId3" Type="http://schemas.openxmlformats.org/officeDocument/2006/relationships/hyperlink" Target="https://support.microsoft.com/es-es/excel/functions/average-function" TargetMode="External"/><Relationship Id="rId4" Type="http://schemas.openxmlformats.org/officeDocument/2006/relationships/hyperlink" Target="https://support.microsoft.com/es-es/excel/functions/var-p-function" TargetMode="External"/><Relationship Id="rId5" Type="http://schemas.openxmlformats.org/officeDocument/2006/relationships/hyperlink" Target="https://support.microsoft.com/es-es/excel/functions/formulatext-function" TargetMode="External"/><Relationship Id="rId6" Type="http://schemas.openxmlformats.org/officeDocument/2006/relationships/hyperlink" Target="https://support.microsoft.com/es-es/excel/functions/xlookup-function" TargetMode="External"/><Relationship Id="rId7" Type="http://schemas.openxmlformats.org/officeDocument/2006/relationships/hyperlink" Target="https://support.microsoft.com/es-es/excel/functions/index-function" TargetMode="External"/><Relationship Id="rId8" Type="http://schemas.openxmlformats.org/officeDocument/2006/relationships/hyperlink" Target="https://support.microsoft.com/es-es/excel/functions/match-function" TargetMode="External"/><Relationship Id="rId9" Type="http://schemas.openxmlformats.org/officeDocument/2006/relationships/hyperlink" Target="https://support.microsoft.com/es-es/excel/functions/rows-function" TargetMode="External"/><Relationship Id="rId10" Type="http://schemas.openxmlformats.org/officeDocument/2006/relationships/hyperlink" Target="https://support.microsoft.com/es-es/excel/functions/columns-function" TargetMode="External"/><Relationship Id="rId11" Type="http://schemas.openxmlformats.org/officeDocument/2006/relationships/hyperlink" Target="https://support.microsoft.com/es-es/excel/functions/indirect-function" TargetMode="External"/><Relationship Id="rId12" Type="http://schemas.openxmlformats.org/officeDocument/2006/relationships/hyperlink" Target="https://support.microsoft.com/es-es/excel/functions/offset-function" TargetMode="External"/><Relationship Id="rId13" Type="http://schemas.openxmlformats.org/officeDocument/2006/relationships/hyperlink" Target="https://support.microsoft.com/es-es/excel/functions/filter-function" TargetMode="External"/><Relationship Id="rId14" Type="http://schemas.openxmlformats.org/officeDocument/2006/relationships/hyperlink" Target="https://support.microsoft.com/es-es/excel/functions/sortby-function" TargetMode="External"/><Relationship Id="rId15" Type="http://schemas.openxmlformats.org/officeDocument/2006/relationships/hyperlink" Target="https://support.microsoft.com/es-es/excel/functions/sort-function" TargetMode="External"/><Relationship Id="rId16" Type="http://schemas.openxmlformats.org/officeDocument/2006/relationships/hyperlink" Target="https://support.microsoft.com/es-es/excel/functions/unique-function" TargetMode="External"/><Relationship Id="rId17" Type="http://schemas.openxmlformats.org/officeDocument/2006/relationships/hyperlink" Target="https://support.microsoft.com/es-es/excel/functions/sequence-function" TargetMode="External"/><Relationship Id="rId18" Type="http://schemas.openxmlformats.org/officeDocument/2006/relationships/hyperlink" Target="https://support.microsoft.com/es-es/excel/functions/take-function" TargetMode="External"/><Relationship Id="rId19" Type="http://schemas.openxmlformats.org/officeDocument/2006/relationships/hyperlink" Target="https://support.microsoft.com/es-es/excel/functions/drop-function" TargetMode="External"/><Relationship Id="rId20" Type="http://schemas.openxmlformats.org/officeDocument/2006/relationships/hyperlink" Target="https://support.microsoft.com/es-es/excel/functions/vstack-function" TargetMode="External"/><Relationship Id="rId21" Type="http://schemas.openxmlformats.org/officeDocument/2006/relationships/hyperlink" Target="https://support.microsoft.com/es-es/excel/functions/hstack-function" TargetMode="External"/><Relationship Id="rId22" Type="http://schemas.openxmlformats.org/officeDocument/2006/relationships/hyperlink" Target="https://support.microsoft.com/es-es/excel/functions/tocol-function" TargetMode="External"/><Relationship Id="rId23" Type="http://schemas.openxmlformats.org/officeDocument/2006/relationships/hyperlink" Target="https://support.microsoft.com/es-es/excel/functions/choosecols-function" TargetMode="External"/><Relationship Id="rId24" Type="http://schemas.openxmlformats.org/officeDocument/2006/relationships/hyperlink" Target="https://support.microsoft.com/es-es/excel/functions/chooserows-function" TargetMode="External"/><Relationship Id="rId25" Type="http://schemas.openxmlformats.org/officeDocument/2006/relationships/hyperlink" Target="https://support.microsoft.com/es-es/excel/functions/sumifs-function" TargetMode="External"/><Relationship Id="rId26" Type="http://schemas.openxmlformats.org/officeDocument/2006/relationships/hyperlink" Target="https://support.microsoft.com/es-es/excel/functions/countifs-function" TargetMode="External"/><Relationship Id="rId27" Type="http://schemas.openxmlformats.org/officeDocument/2006/relationships/hyperlink" Target="https://support.microsoft.com/es-es/excel/functions/averageifs-function" TargetMode="External"/><Relationship Id="rId28" Type="http://schemas.openxmlformats.org/officeDocument/2006/relationships/hyperlink" Target="https://support.microsoft.com/es-es/excel/functions/maxifs-function" TargetMode="External"/><Relationship Id="rId29" Type="http://schemas.openxmlformats.org/officeDocument/2006/relationships/hyperlink" Target="https://support.microsoft.com/es-es/excel/functions/minifs-function" TargetMode="External"/><Relationship Id="rId30" Type="http://schemas.openxmlformats.org/officeDocument/2006/relationships/slideLayout" Target="../slideLayouts/slideLayout4.xml"/><Relationship Id="rId31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Excel avanzado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Excel.xlsx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28900" cy="4343400"/>
          </a:xfrm>
          <a:prstGeom prst="roundRect">
            <a:avLst>
              <a:gd name="adj" fmla="val 4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Tablas estructuradas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«Data» y «Tablas»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5196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· VAR.P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FORMULATEXTO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0420" y="1600200"/>
            <a:ext cx="2628900" cy="4343400"/>
          </a:xfrm>
          <a:prstGeom prst="roundRect">
            <a:avLst>
              <a:gd name="adj" fmla="val 4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9020" y="178308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89020" y="24231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Buscar y referenciar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89020" y="338328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«Buscar»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89020" y="425196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INDIRECTO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DESREF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628900" cy="4343400"/>
          </a:xfrm>
          <a:prstGeom prst="roundRect">
            <a:avLst>
              <a:gd name="adj" fmla="val 4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78308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Matrices dinámicas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8328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«Manip Tablas»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25196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ORDENARPOR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TOMAR · APILARV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83980" y="1600200"/>
            <a:ext cx="2628900" cy="4343400"/>
          </a:xfrm>
          <a:prstGeom prst="roundRect">
            <a:avLst>
              <a:gd name="adj" fmla="val 4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2580" y="178308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212580" y="24231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Operar con condiciones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12580" y="338328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«Operar Tablas»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12580" y="425196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SUMAR.SI.CONJUNTO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CONTAR.SI.CONJUNTO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MAX.SI.CONJUNTO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Tablas estructuradas (Ctrl + T)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 · Tablas estructuradas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«Data»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PROMEDI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PROMEDIO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Crecen con los datos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984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fórmulas que usan Data[...] incluyen automáticamente las filas nuevas.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Referencias por nombre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127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Data[Número] en lugar de $B$2:$B$55.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Columnas calculadas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270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fórmula se escribe una vez y se copia a toda la columna.</a:t>
            </a:r>
            <a:endParaRPr lang="en-US" sz="1500" dirty="0"/>
          </a:p>
        </p:txBody>
      </p:sp>
      <p:sp>
        <p:nvSpPr>
          <p:cNvPr id="18" name="barra fx"/>
          <p:cNvSpPr/>
          <p:nvPr/>
        </p:nvSpPr>
        <p:spPr>
          <a:xfrm>
            <a:off x="6400800" y="1600200"/>
            <a:ext cx="52120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0528" y="171907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10528" y="17190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1600200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=[@Número]&gt;PROMEDIO(Data[Número])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Columna D de «Data», «Mayor Que la Media» (media = 14)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788920"/>
          <a:ext cx="4389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Letras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Mayor Que la Media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Ñ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VERDADERO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VERDADERO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52578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Nota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[@Número] es el valor de la misma fila. En «Data» aparece escrito como Data[[#Esta fila];[Número]].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Funciones de resumen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 · Tablas estructuradas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«Tablas» · D2:G6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SUM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SUMA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CONT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CONTAR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PROMEDI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Abrir la página de VAR.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VAR.P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5" invalidUrl="" action="" tgtFrame="" tooltip="Abrir la página de FORMULATEX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FORMULATEXTO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21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SUMA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=SUMA(Tabla2[Número])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CONTAR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=CONTAR(Tabla2[Número])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3,5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PROMEDIO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=PROMEDIO(Tabla2[Número])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5256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8116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2,92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928116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VAR.P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28116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=VAR.P(Tabla2[Número])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Datos: Tabla2 de la hoja «Tablas», letras A–F y números 1–6.</a:t>
            </a:r>
            <a:endParaRPr lang="en-US" sz="1300" dirty="0"/>
          </a:p>
        </p:txBody>
      </p:sp>
      <p:sp>
        <p:nvSpPr>
          <p:cNvPr id="23" name="barra fx"/>
          <p:cNvSpPr/>
          <p:nvPr/>
        </p:nvSpPr>
        <p:spPr>
          <a:xfrm>
            <a:off x="548640" y="4434840"/>
            <a:ext cx="56692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55371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5537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443484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=FORMULATEXTO(D2)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4343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Devuelve la fórmula de una celda como texto. Se usa en todas las hojas del archivo para mostrar cada fórmula junto a su resultado.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BUSCARX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 · Buscar y referenciar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«Buscar» · H1:I5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BUSCAR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BUSCARX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TOM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TOMAR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UNICO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UNICOS</a:t>
            </a:r>
            <a:endParaRPr lang="en-US" sz="1100" dirty="0"/>
          </a:p>
        </p:txBody>
      </p:sp>
      <p:sp>
        <p:nvSpPr>
          <p:cNvPr id="6" name="barra fx"/>
          <p:cNvSpPr/>
          <p:nvPr/>
        </p:nvSpPr>
        <p:spPr>
          <a:xfrm>
            <a:off x="548640" y="1508760"/>
            <a:ext cx="11064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27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08760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=BUSCARX(H1#; Data[Letras]; Data[Número])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valor_buscado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2377440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Valor que se busca. H1# es la lista completa que devuelve H1.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80944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80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matriz_buscada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980944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 donde se busca: Data[Letras].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84448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84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matriz_devuelta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358444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 que se devuelve: Data[Número].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187952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879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[si_no_existe]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154680" y="418795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Texto que aparece en lugar de #N/D.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791456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79145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[modo]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154680" y="4791456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 exacta (por defecto), -1 o 1 aproximada.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2423160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859536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= TOMAR(UNICOS(Data[Letras]); 5)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Nota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el valor aparece varias veces, devuelve la primera coincidencia. La A está dos veces en «Data».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INDICE, FILAS y COLUMNAS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 · Buscar y referenciar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«Buscar» · I12:J16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INDI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INDICE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FILA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FILAS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COLUMNA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COLUMNAS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Abrir la página de COINCIDI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COINCIDIR</a:t>
            </a:r>
            <a:endParaRPr lang="en-US" sz="1100" dirty="0"/>
          </a:p>
        </p:txBody>
      </p:sp>
      <p:sp>
        <p:nvSpPr>
          <p:cNvPr id="6" name="barra fx"/>
          <p:cNvSpPr/>
          <p:nvPr/>
        </p:nvSpPr>
        <p:spPr>
          <a:xfrm>
            <a:off x="548640" y="1508760"/>
            <a:ext cx="60350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27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0876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=INDICE(Data[]; 25; 2)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237744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Tabla completa: Data[].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80944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809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núm_fila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298094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Fila 25 dentro de la tabla.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84448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844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núm_columna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88920" y="358444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 2 = Número.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343400"/>
            <a:ext cx="2834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54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166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FILAS(Data[])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657600" y="434340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86200" y="4389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3886200" y="5166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COLUMNAS(Data[])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508760"/>
          <a:ext cx="41148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114300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Fila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Letras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Acum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W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X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Y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713232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Resultado: 25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7132320" y="434340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60920" y="44348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Alternativa a BUSCARX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=INDICE(Data[Número]; COINCIDIR("X"; Data[Letras]; 0))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INDIRECTO y DESREF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 · Buscar y referenciar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«Buscar» · A22:A23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INDIREC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INDIRECTO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DESRE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DESREF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INDIRECTO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Convierte un texto en una referencia.</a:t>
            </a:r>
            <a:endParaRPr lang="en-US" sz="1500" dirty="0"/>
          </a:p>
        </p:txBody>
      </p:sp>
      <p:sp>
        <p:nvSpPr>
          <p:cNvPr id="9" name="barra fx"/>
          <p:cNvSpPr/>
          <p:nvPr/>
        </p:nvSpPr>
        <p:spPr>
          <a:xfrm>
            <a:off x="822960" y="2788920"/>
            <a:ext cx="484632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290779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2688" y="29077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78892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=SUMA(INDIRECTO("Data[Número]"))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756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Permite elegir la columna desde una celda o un desplegable.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DESREF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desplaza filas y columnas desde una celda de partida.</a:t>
            </a:r>
            <a:endParaRPr lang="en-US" sz="1500" dirty="0"/>
          </a:p>
        </p:txBody>
      </p:sp>
      <p:sp>
        <p:nvSpPr>
          <p:cNvPr id="18" name="barra fx"/>
          <p:cNvSpPr/>
          <p:nvPr/>
        </p:nvSpPr>
        <p:spPr>
          <a:xfrm>
            <a:off x="6492240" y="2788920"/>
            <a:ext cx="484632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290779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01968" y="29077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278892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=DESREF(Data!B1; 5; 0)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Permite crear rangos móviles, por ejemplo los últimos n meses.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34924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3492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Nota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dos son volátiles: se recalculan con cualquier cambio del libro, lo que ralentiza los archivos grandes.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Desbordamiento de resultados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SECUENCI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SECUENCIA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Una fórmula en una celda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 ejemplo, =SECUENCIA(5).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Ocupa varias celdas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Excel lo marca con un borde alrededor del rango.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160020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Referencia con #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A1# es todo el rango del resultado, aunque cambie de tamaño.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#¡DESBORDAMIENTO!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42519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Aparece cuando alguna de las celdas que necesita el resultado ya tiene contenido. Se soluciona vaciándolas.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FILTRAR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H2 e I2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FILTR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FILTRAR</a:t>
            </a:r>
            <a:endParaRPr lang="en-US" sz="1100" dirty="0"/>
          </a:p>
        </p:txBody>
      </p:sp>
      <p:sp>
        <p:nvSpPr>
          <p:cNvPr id="6" name="barra fx"/>
          <p:cNvSpPr/>
          <p:nvPr/>
        </p:nvSpPr>
        <p:spPr>
          <a:xfrm>
            <a:off x="548640" y="1508760"/>
            <a:ext cx="11064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27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08760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=FILTRAR(Data[]; Data[Número]&gt;H2; "Sin resultados")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237744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Tabla que se devuelve.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80944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809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incluir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298094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Condición que se evalúa en cada fila.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84448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844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[si_vacío]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88920" y="358444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Texto si ninguna fila la cumple.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343400"/>
            <a:ext cx="6217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38912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Varias condiciones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(cond1)*(cond2) → Y      (cond1)+(cond2) → 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H2 = 1  →  52 filas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880360"/>
          <a:ext cx="4389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51560"/>
                <a:gridCol w="9601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Letras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Acum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Mayor…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ORDENARPOR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U2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ORDENARP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ORDENARPOR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ORDEN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ORDENAR</a:t>
            </a:r>
            <a:endParaRPr lang="en-US" sz="1100" dirty="0"/>
          </a:p>
        </p:txBody>
      </p:sp>
      <p:sp>
        <p:nvSpPr>
          <p:cNvPr id="6" name="barra fx"/>
          <p:cNvSpPr/>
          <p:nvPr/>
        </p:nvSpPr>
        <p:spPr>
          <a:xfrm>
            <a:off x="548640" y="1508760"/>
            <a:ext cx="11064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27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08760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=ORDENARPOR(Data[]; Data[Mayor Que la Media]; -1; Data[Número]; 1)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Primer criterio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8072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Mayor Que la Media, -1 (descendente): VERDADERO va primero.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Segundo criterio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9959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Número, 1 (ascendente): ordena dentro de cada grupo.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93776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Nota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ORDENAR usa la posición de la columna. ORDENARPOR puede ordenar por cualquier columna, aunque no se devuelva.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423160"/>
          <a:ext cx="4663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9144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Letras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Acum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Mayor…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Ñ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VERDADERO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Ñ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42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VERDADERO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VERDADERO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FALSO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UNICOS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AG1 y AI2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UNICO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UNICOS</a:t>
            </a:r>
            <a:endParaRPr lang="en-US" sz="1100" dirty="0"/>
          </a:p>
        </p:txBody>
      </p:sp>
      <p:sp>
        <p:nvSpPr>
          <p:cNvPr id="6" name="barra fx"/>
          <p:cNvSpPr/>
          <p:nvPr/>
        </p:nvSpPr>
        <p:spPr>
          <a:xfrm>
            <a:off x="548640" y="1508760"/>
            <a:ext cx="11064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27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08760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=UNICOS(Data[[Letras]:[Número]]; FALSO)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29260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237744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Columnas que se comparan (Letras y Número).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80944"/>
            <a:ext cx="292608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809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[por_columna]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703320" y="298094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FALSO compara filas, que es lo habitual.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84448"/>
            <a:ext cx="292608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844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[exactamente_una_vez]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703320" y="35844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VERDADERO devuelve solo lo que aparece una vez.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54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212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filas en Data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743200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27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2743200" y="5212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filas únicas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50 %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5212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son únicas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37744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A72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Z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SECUENCIA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AU2:AW11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SECUENCI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SECUENCIA</a:t>
            </a:r>
            <a:endParaRPr lang="en-US" sz="1100" dirty="0"/>
          </a:p>
        </p:txBody>
      </p:sp>
      <p:sp>
        <p:nvSpPr>
          <p:cNvPr id="6" name="barra fx"/>
          <p:cNvSpPr/>
          <p:nvPr/>
        </p:nvSpPr>
        <p:spPr>
          <a:xfrm>
            <a:off x="548640" y="1508760"/>
            <a:ext cx="11064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27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08760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=SECUENCIA(10; 1; 1; 1)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3774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237744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Número de filas: 10.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80944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809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[columnas]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298094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Número de columnas: 1.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84448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844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[inicio]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88920" y="358444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Primer valor: 1.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187952"/>
            <a:ext cx="201168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879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[paso]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788920" y="418795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Incremento: 1.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937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Se usa para numerar filas, crear calendarios o generar índices para INDICE y ELEGIRFILAS.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=SECUENCIA(3; 4)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834640"/>
          <a:ext cx="4389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7040880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 rellena por filas, de izquierda a derecha.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TOMAR y EXCLUIR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BF2:BN45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TOM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TOMAR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EXCLUI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EXCLUIR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TOMAR</a:t>
            </a:r>
            <a:endParaRPr lang="en-US" sz="2400" dirty="0"/>
          </a:p>
        </p:txBody>
      </p:sp>
      <p:sp>
        <p:nvSpPr>
          <p:cNvPr id="7" name="barra fx"/>
          <p:cNvSpPr/>
          <p:nvPr/>
        </p:nvSpPr>
        <p:spPr>
          <a:xfrm>
            <a:off x="548640" y="2011680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13055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2130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01168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=TOMAR(Data[]; 10; 1)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21945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834640"/>
            <a:ext cx="548640" cy="54186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2834640"/>
            <a:ext cx="0" cy="29260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0" y="2834640"/>
            <a:ext cx="0" cy="29260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94560" y="2834640"/>
            <a:ext cx="0" cy="29260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1752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10 filas × 1 columna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3703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Devuelve las 10 primeras filas de la primera columna.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EXCLUIR</a:t>
            </a:r>
            <a:endParaRPr lang="en-US" sz="2400" dirty="0"/>
          </a:p>
        </p:txBody>
      </p:sp>
      <p:sp>
        <p:nvSpPr>
          <p:cNvPr id="19" name="barra fx"/>
          <p:cNvSpPr/>
          <p:nvPr/>
        </p:nvSpPr>
        <p:spPr>
          <a:xfrm>
            <a:off x="6217920" y="2011680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27648" y="213055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7648" y="2130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01168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=EXCLUIR(Data[]; 10; 1)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217920" y="2834640"/>
            <a:ext cx="21945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3376507"/>
            <a:ext cx="1645920" cy="23842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66560" y="2834640"/>
            <a:ext cx="0" cy="29260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0" y="2834640"/>
            <a:ext cx="0" cy="29260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0" y="2834640"/>
            <a:ext cx="0" cy="29260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8680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44 filas × 3 columnas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3703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Devuelve la tabla sin las 10 primeras filas ni la primera columna.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Nota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números negativos se cuenta desde el final: TOMAR(Data[]; -5) devuelve las 5 últimas filas.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APILARV, APILARH y ENCOL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BW2, BY2 y CC2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APILAR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APILARV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APILAR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APILARH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ENCO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Función ENCOL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APILARV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=APILARV(Data[Letras]; Data[Número])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37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108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97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filas en una columna (54 + 54)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APILARH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=APILARH(Data[Letras]; Data[Acum]; Data[Número])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337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297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columnas en el orden indicado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ENCOL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=ENCOL(Data[])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337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216</a:t>
            </a:r>
            <a:endParaRPr lang="en-US" sz="54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4297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valores en una columna (54 × 4)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APILARV une rangos en vertical y APILARH en horizontal. ENCOL pasa un rango a una sola columna; ENFILA hace lo mismo en una fila.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ELEGIRCOLS, ELEGIRFILAS y fórmulas anidadas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· Matrices dinámicas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«Manip Tablas» · CE2 y CG2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ELEGIRC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ELEGIRCOLS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ELEGIRFILA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ELEGIRFILAS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ORDENARP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ORDENARPOR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Abrir la página de TOM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TOMAR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ELEGIRCOLS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=ELEGIRCOLS(Data[]; 1; 3)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Columnas 1 y 3 (Letras y Acum).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ELEGIRFILAS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=ELEGIRFILAS(Data[]; 1; -1)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Primera y última fila.</a:t>
            </a:r>
            <a:endParaRPr lang="en-US" sz="1500" dirty="0"/>
          </a:p>
        </p:txBody>
      </p:sp>
      <p:sp>
        <p:nvSpPr>
          <p:cNvPr id="14" name="barra fx"/>
          <p:cNvSpPr/>
          <p:nvPr/>
        </p:nvSpPr>
        <p:spPr>
          <a:xfrm>
            <a:off x="548640" y="3429000"/>
            <a:ext cx="11064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54787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5478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429000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=TOMAR(ORDENARPOR(Data[]; Data[Número]; -1); 5)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ORDENARPOR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ordena la tabla de mayor a menor Número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5029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TOMAR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devuelve las 5 primeras filas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416052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Letras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Z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Z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Y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Y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X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1037844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Top 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Funciones .SI.CONJUNTO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 · Operar con condiciones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«Operar Tablas»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SUMAR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SUMAR.SI.CONJUNTO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CONTAR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CONTAR.SI.CONJUNTO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PROMEDIO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PROMEDIO.SI.CONJUNTO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Abrir la página de MAX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5" invalidUrl="" action="" tgtFrame="" tooltip="Abrir la página de MIN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MIN.SI.CONJUNTO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Argumentos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3B26"/>
                          </a:solidFill>
                        </a:rPr>
                        <a:t>SUMAR.SI.CONJUNTO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rango_suma; rango_criterios1; criterio1; 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3B26"/>
                          </a:solidFill>
                        </a:rPr>
                        <a:t>CONTAR.SI.CONJUNTO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rango_criterios1; criterio1; 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3B26"/>
                          </a:solidFill>
                        </a:rPr>
                        <a:t>PROMEDIO.SI.CONJUNTO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rango_promedio; rango_criterios1; criterio1; 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3B26"/>
                          </a:solidFill>
                        </a:rPr>
                        <a:t>MAX.SI.CONJUNTO · MIN.SI.CONJUNTO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rango_max; rango_criterios1; criterio1; 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SUMAR, PROMEDIO y MAX/MIN empiezan por el rango con el que se opera. CONTAR no lleva ese rango.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52120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21A"/>
                </a:solidFill>
              </a:rPr>
              <a:t>Nota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usar una celda en el criterio hay que concatenarla: "&gt;"&amp;H2. Con "&gt;H2" se compara con el texto «H2».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Criterios por lista y por intervalo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 · Operar con condiciones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Hoja «Operar Tablas» · H2:L17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Microsoft Support: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" invalidUrl="" action="" tgtFrame="" tooltip="Abrir la página de SUMAR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SUMAR.SI.CONJUNTO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Abrir la página de CONTAR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CONTAR.SI.CONJUNTO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Abrir la página de PROMEDIO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PROMEDIO.SI.CONJUNTO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Abrir la página de MAX.SI.CONJUN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MAX.SI.CONJUNTO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Por lista: un resultado por letra</a:t>
            </a:r>
            <a:endParaRPr lang="en-US" sz="1900" dirty="0"/>
          </a:p>
        </p:txBody>
      </p:sp>
      <p:sp>
        <p:nvSpPr>
          <p:cNvPr id="7" name="barra fx"/>
          <p:cNvSpPr/>
          <p:nvPr/>
        </p:nvSpPr>
        <p:spPr>
          <a:xfrm>
            <a:off x="548640" y="2011680"/>
            <a:ext cx="530352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13055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2130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01168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=SUMAR.SI.CONJUNTO(Data[Número]; Data[Letras]; H2:H4)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Letra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CONTAR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343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H2:H4 tiene tres valores, así que la fórmula devuelve tres resultados.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Por intervalo: Número &lt; 10 y &gt; 5</a:t>
            </a:r>
            <a:endParaRPr lang="en-US" sz="1900" dirty="0"/>
          </a:p>
        </p:txBody>
      </p:sp>
      <p:sp>
        <p:nvSpPr>
          <p:cNvPr id="14" name="barra fx"/>
          <p:cNvSpPr/>
          <p:nvPr/>
        </p:nvSpPr>
        <p:spPr>
          <a:xfrm>
            <a:off x="6400800" y="2011680"/>
            <a:ext cx="52120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0528" y="2130552"/>
            <a:ext cx="56692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10528" y="2130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fx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2011680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=SUMAR.SI.CONJUNTO(Data[Número]; Data[Número]; "&lt;10"; Data[Número]; "&gt;5")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283464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629400" y="2880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60</a:t>
            </a:r>
            <a:endParaRPr lang="en-US" sz="480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SUMA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9052560" y="283464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281160" y="2880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8</a:t>
            </a:r>
            <a:endParaRPr lang="en-US" sz="4800" dirty="0"/>
          </a:p>
        </p:txBody>
      </p:sp>
      <p:sp>
        <p:nvSpPr>
          <p:cNvPr id="23" name="Text 19"/>
          <p:cNvSpPr txBox="1"/>
          <p:nvPr/>
        </p:nvSpPr>
        <p:spPr>
          <a:xfrm>
            <a:off x="928116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CONTAR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400800" y="406908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629400" y="4114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7,5</a:t>
            </a:r>
            <a:endParaRPr lang="en-US" sz="4800" dirty="0"/>
          </a:p>
        </p:txBody>
      </p:sp>
      <p:sp>
        <p:nvSpPr>
          <p:cNvPr id="26" name="Text 22"/>
          <p:cNvSpPr txBox="1"/>
          <p:nvPr/>
        </p:nvSpPr>
        <p:spPr>
          <a:xfrm>
            <a:off x="662940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PROMEDIO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9052560" y="406908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281160" y="4114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</a:t>
            </a:r>
            <a:endParaRPr lang="en-US" sz="4800" dirty="0"/>
          </a:p>
        </p:txBody>
      </p:sp>
      <p:sp>
        <p:nvSpPr>
          <p:cNvPr id="29" name="Text 25"/>
          <p:cNvSpPr txBox="1"/>
          <p:nvPr/>
        </p:nvSpPr>
        <p:spPr>
          <a:xfrm>
            <a:off x="928116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MAX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7724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Pendiente de corregir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«Operar Tablas», I12, L12, I16 y L16 usan los criterios de arriba (H2:H4, H6 y H7) en lugar de los suyos, así que cambiar H12 o H16 no altera el resultado.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Resumen de funciones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Cierre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  Excel.xlsx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3472" cy="4526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Tablas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«Data» · «Tablas»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PROMEDIO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VAR.P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FORMULATEXTO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33472" cy="4526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Buscar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«Buscar»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78892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BUSCARX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COINCIDIR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FILAS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COLUMNAS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INDIRECTO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DESREF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33472" cy="4526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Matrices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«Manip Tablas»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78892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FILTRAR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ORDENARPOR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ORDENAR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UNICOS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SECUENCIA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TOMAR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EXCLUIR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APILARV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APILARH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ENCOL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ELEGIRCOLS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ELEGIRFILAS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33472" cy="4526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26296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Condiciones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Hoja «Operar Tablas»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78892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SUMAR.SI.CONJUNTO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CONTAR.SI.CONJUNTO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PROMEDIO.SI.CONJUNTO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MAX.SI.CONJUNTO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MIN.SI.CONJUNTO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367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Cada nombre enlaza a su página en Microsoft Support (español).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cel Avanzado">
  <a:themeElements>
    <a:clrScheme name="Excel Avanzado">
      <a:dk1>
        <a:srgbClr val="1F2A24"/>
      </a:dk1>
      <a:lt1>
        <a:srgbClr val="FFFFFF"/>
      </a:lt1>
      <a:dk2>
        <a:srgbClr val="0E3B26"/>
      </a:dk2>
      <a:lt2>
        <a:srgbClr val="EEF5F0"/>
      </a:lt2>
      <a:accent1>
        <a:srgbClr val="107C41"/>
      </a:accent1>
      <a:accent2>
        <a:srgbClr val="F2A93B"/>
      </a:accent2>
      <a:accent3>
        <a:srgbClr val="5B8C6E"/>
      </a:accent3>
      <a:accent4>
        <a:srgbClr val="C0392B"/>
      </a:accent4>
      <a:accent5>
        <a:srgbClr val="6B7A72"/>
      </a:accent5>
      <a:accent6>
        <a:srgbClr val="C6E7D2"/>
      </a:accent6>
      <a:hlink>
        <a:srgbClr val="107C41"/>
      </a:hlink>
      <a:folHlink>
        <a:srgbClr val="5B8C6E"/>
      </a:folHlink>
    </a:clrScheme>
    <a:fontScheme name="Excel Avanz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avanzado — guía de clase</dc:title>
  <dc:subject>PptxGenJS Presentation</dc:subject>
  <dc:creator>PptxGenJS</dc:creator>
  <cp:lastModifiedBy>PptxGenJS</cp:lastModifiedBy>
  <cp:revision>1</cp:revision>
  <dcterms:created xsi:type="dcterms:W3CDTF">2026-10-07T08:25:45Z</dcterms:created>
  <dcterms:modified xsi:type="dcterms:W3CDTF">2026-10-07T08:25:45Z</dcterms:modified>
</cp:coreProperties>
</file>